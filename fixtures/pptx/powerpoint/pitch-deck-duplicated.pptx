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lvl1pPr>
      <a:defRPr sz="1800"/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 2026</c:v>
                </c:pt>
                <c:pt idx="1">
                  <c:v>Q2 2026</c:v>
                </c:pt>
                <c:pt idx="2">
                  <c:v>Q3 2026</c:v>
                </c:pt>
                <c:pt idx="3">
                  <c:v>Q4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310</c:v>
                </c:pt>
                <c:pt idx="1">
                  <c:v>560</c:v>
                </c:pt>
                <c:pt idx="2">
                  <c:v>840</c:v>
                </c:pt>
                <c:pt idx="3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77-42CB-A68E-5C635252254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cross"/>
        <c:minorTickMark val="cross"/>
        <c:tickLblPos val="nextTo"/>
        <c:crossAx val="111111111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 2026</c:v>
                </c:pt>
                <c:pt idx="1">
                  <c:v>Q2 2026</c:v>
                </c:pt>
                <c:pt idx="2">
                  <c:v>Q3 2026</c:v>
                </c:pt>
                <c:pt idx="3">
                  <c:v>Q4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310</c:v>
                </c:pt>
                <c:pt idx="1">
                  <c:v>560</c:v>
                </c:pt>
                <c:pt idx="2">
                  <c:v>840</c:v>
                </c:pt>
                <c:pt idx="3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77-42CB-A68E-5C635252254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cross"/>
        <c:minorTickMark val="cross"/>
        <c:tickLblPos val="nextTo"/>
        <c:crossAx val="111111111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them for the time. Two minutes on the problem.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Bottom-up: lenders times average contract.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Numbers as of 30 September.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Numbers as of 30 September.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 sz="4400"/>
      </a:lvl1pPr>
    </p:titleStyle>
    <p:bodyStyle>
      <a:lvl1pPr marL="228600" indent="-228600">
        <a:buFont typeface="Arial"/>
        <a:buChar char="•"/>
        <a:defRPr sz="2800"/>
      </a:lvl1pPr>
      <a:lvl2pPr marL="685800" indent="-228600">
        <a:buFont typeface="Arial"/>
        <a:buChar char="•"/>
        <a:defRPr sz="2400"/>
      </a:lvl2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Lumen Ledger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Seed round · 2026</a:t>
            </a:r>
          </a:p>
        </p:txBody>
      </p:sp>
    </p:spTree>
    <p:extLst>
      <p:ext uri="{BB962C8B-B14F-4D97-AF65-F5344CB8AC3E}">
        <p14:creationId xmlns:p14="http://schemas.microsoft.com/office/powerpoint/2010/main" val="1002027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Small lenders reconcile loan books by hand</a:t>
            </a:r>
          </a:p>
          <a:p>
            <a:r>
              <a:rPr lang="en-US"/>
              <a:t>Month-end close takes nine days on average</a:t>
            </a:r>
          </a:p>
          <a:p>
            <a:r>
              <a:rPr lang="en-US"/>
              <a:t>Errors surface only at audit</a:t>
            </a:r>
          </a:p>
        </p:txBody>
      </p:sp>
    </p:spTree>
    <p:extLst>
      <p:ext uri="{BB962C8B-B14F-4D97-AF65-F5344CB8AC3E}">
        <p14:creationId xmlns:p14="http://schemas.microsoft.com/office/powerpoint/2010/main" val="1002035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ledger that reconciles itself every night</a:t>
            </a:r>
          </a:p>
          <a:p>
            <a:pPr lvl="1"/>
            <a:r>
              <a:rPr lang="en-US"/>
              <a:t>Connects to the core banking system in a day</a:t>
            </a:r>
          </a:p>
          <a:p>
            <a:pPr lvl="1"/>
            <a:r>
              <a:rPr lang="en-US"/>
              <a:t>Flags breaks before they reach the books</a:t>
            </a:r>
          </a:p>
        </p:txBody>
      </p:sp>
    </p:spTree>
    <p:extLst>
      <p:ext uri="{BB962C8B-B14F-4D97-AF65-F5344CB8AC3E}">
        <p14:creationId xmlns:p14="http://schemas.microsoft.com/office/powerpoint/2010/main" val="1002043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4,800 community lenders in North America</a:t>
            </a:r>
          </a:p>
          <a:p>
            <a:r>
              <a:rPr lang="en-US"/>
              <a:t>$4.2B serviceable market</a:t>
            </a:r>
          </a:p>
        </p:txBody>
      </p:sp>
    </p:spTree>
    <p:extLst>
      <p:ext uri="{BB962C8B-B14F-4D97-AF65-F5344CB8AC3E}">
        <p14:creationId xmlns:p14="http://schemas.microsoft.com/office/powerpoint/2010/main" val="1002051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Product</a:t>
            </a:r>
          </a:p>
        </p:txBody>
      </p:sp>
      <p:pic>
        <p:nvPicPr>
          <p:cNvPr id="3" name="Picture 2" descr="The reconciliation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562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058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</a:t>
            </a:r>
          </a:p>
        </p:txBody>
      </p:sp>
      <p:graphicFrame>
        <p:nvGraphicFramePr>
          <p:cNvPr id="3" name="Chart 2"/>
          <p:cNvGraphicFramePr/>
          <p:nvPr/>
        </p:nvGraphicFramePr>
        <p:xfrm>
          <a:off x="838200" y="1825625"/>
          <a:ext cx="60960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825625"/>
            <a:ext cx="4038600" cy="12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$1.2M ARR</a:t>
            </a:r>
          </a:p>
          <a:p>
            <a:r>
              <a:rPr lang="en-US"/>
              <a:t>Net revenue retention 128%</a:t>
            </a:r>
          </a:p>
        </p:txBody>
      </p:sp>
    </p:spTree>
    <p:extLst>
      <p:ext uri="{BB962C8B-B14F-4D97-AF65-F5344CB8AC3E}">
        <p14:creationId xmlns:p14="http://schemas.microsoft.com/office/powerpoint/2010/main" val="1002066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</a:t>
            </a:r>
          </a:p>
        </p:txBody>
      </p:sp>
      <p:graphicFrame>
        <p:nvGraphicFramePr>
          <p:cNvPr id="3" name="Chart 2"/>
          <p:cNvGraphicFramePr/>
          <p:nvPr/>
        </p:nvGraphicFramePr>
        <p:xfrm>
          <a:off x="838200" y="1825625"/>
          <a:ext cx="60960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825625"/>
            <a:ext cx="4038600" cy="12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$1.2M ARR</a:t>
            </a:r>
          </a:p>
          <a:p>
            <a:r>
              <a:rPr lang="en-US"/>
              <a:t>Net revenue retention 128%</a:t>
            </a:r>
          </a:p>
        </p:txBody>
      </p:sp>
    </p:spTree>
    <p:extLst>
      <p:ext uri="{BB962C8B-B14F-4D97-AF65-F5344CB8AC3E}">
        <p14:creationId xmlns:p14="http://schemas.microsoft.com/office/powerpoint/2010/main" val="2236943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Rowan Ellis, CEO</a:t>
            </a:r>
          </a:p>
          <a:p>
            <a:pPr lvl="1"/>
            <a:r>
              <a:rPr lang="en-US"/>
              <a:t>Ran lending ops at a regional bank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r>
              <a:rPr lang="en-US"/>
              <a:t>Imani Okafor, CTO</a:t>
            </a:r>
          </a:p>
          <a:p>
            <a:pPr lvl="1"/>
            <a:r>
              <a:rPr lang="en-US"/>
              <a:t>Built ledgers at two payment firms</a:t>
            </a:r>
          </a:p>
        </p:txBody>
      </p:sp>
    </p:spTree>
    <p:extLst>
      <p:ext uri="{BB962C8B-B14F-4D97-AF65-F5344CB8AC3E}">
        <p14:creationId xmlns:p14="http://schemas.microsoft.com/office/powerpoint/2010/main" val="1002074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Raising $2.5M seed</a:t>
            </a:r>
          </a:p>
          <a:p>
            <a:r>
              <a:rPr lang="en-US"/>
              <a:t>18 months of runway</a:t>
            </a:r>
          </a:p>
          <a:p>
            <a:r>
              <a:rPr lang="en-US"/>
              <a:t>Hire four engineers</a:t>
            </a:r>
          </a:p>
        </p:txBody>
      </p:sp>
    </p:spTree>
    <p:extLst>
      <p:ext uri="{BB962C8B-B14F-4D97-AF65-F5344CB8AC3E}">
        <p14:creationId xmlns:p14="http://schemas.microsoft.com/office/powerpoint/2010/main" val="1002082697"/>
      </p:ext>
    </p:extLst>
  </p:cSld>
  <p:clrMapOvr>
    <a:masterClrMapping/>
  </p:clrMapOvr>
</p:sld>
</file>

<file path=ppt/theme/theme1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</Words>
  <Application>Microsoft Office PowerPoint</Application>
  <PresentationFormat>Widescreen</PresentationFormat>
  <Paragraphs>33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Lineage</vt:lpstr>
      <vt:lpstr>Lumen Ledger</vt:lpstr>
      <vt:lpstr>Problem</vt:lpstr>
      <vt:lpstr>Solution</vt:lpstr>
      <vt:lpstr>Market</vt:lpstr>
      <vt:lpstr>Product</vt:lpstr>
      <vt:lpstr>Traction</vt:lpstr>
      <vt:lpstr>Traction</vt:lpstr>
      <vt:lpstr>Team</vt:lpstr>
      <vt:lpstr>The ask</vt:lpstr>
    </vt:vector>
  </TitlesOfParts>
  <Company>Lumen Ledger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Ledger pitch deck</dc:title>
  <dc:creator>Lineage fixture generator</dc:creator>
  <cp:lastModifiedBy>Lineage fixture generator</cp:lastModifiedBy>
  <cp:revision>1</cp:revision>
  <dcterms:created xsi:type="dcterms:W3CDTF">2026-01-01T00:00:00Z</dcterms:created>
  <dcterms:modified xsi:type="dcterms:W3CDTF">2026-10-17T16:47:45Z</dcterms:modified>
</cp:coreProperties>
</file>