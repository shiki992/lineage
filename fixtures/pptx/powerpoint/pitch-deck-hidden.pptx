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lvl1pPr>
      <a:defRPr sz="1800"/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0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ARR ($k)</c:v>
                </c:pt>
              </c:strCache>
            </c:strRef>
          </c:tx>
          <c:invertIfNegative val="1"/>
          <c:cat>
            <c:strRef>
              <c:f>Sheet1!$A$2:$A$5</c:f>
              <c:strCache>
                <c:ptCount val="4"/>
                <c:pt idx="0">
                  <c:v>Q1 2026</c:v>
                </c:pt>
                <c:pt idx="1">
                  <c:v>Q2 2026</c:v>
                </c:pt>
                <c:pt idx="2">
                  <c:v>Q3 2026</c:v>
                </c:pt>
                <c:pt idx="3">
                  <c:v>Q4 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310</c:v>
                </c:pt>
                <c:pt idx="1">
                  <c:v>560</c:v>
                </c:pt>
                <c:pt idx="2">
                  <c:v>840</c:v>
                </c:pt>
                <c:pt idx="3">
                  <c:v>1200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B62-4530-990C-373BBC74DDE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cross"/>
        <c:minorTickMark val="cross"/>
        <c:tickLblPos val="nextTo"/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numFmt formatCode="General" sourceLinked="1"/>
        <c:majorTickMark val="cross"/>
        <c:minorTickMark val="cross"/>
        <c:tickLblPos val="nextTo"/>
        <c:crossAx val="111111111"/>
        <c:crosses val="autoZero"/>
        <c:crossBetween val="between"/>
      </c:valAx>
    </c:plotArea>
    <c:plotVisOnly val="1"/>
    <c:dispBlanksAs val="zero"/>
    <c:showDLblsOverMax val="1"/>
  </c:chart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text styles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Thank them for the time. Two minutes on the problem.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Bottom-up: lenders times average contract.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Numbers as of 30 September.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subtitle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text styles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>
        <a:defRPr sz="4400"/>
      </a:lvl1pPr>
    </p:titleStyle>
    <p:bodyStyle>
      <a:lvl1pPr marL="228600" indent="-228600">
        <a:buFont typeface="Arial"/>
        <a:buChar char="•"/>
        <a:defRPr sz="2800"/>
      </a:lvl1pPr>
      <a:lvl2pPr marL="685800" indent="-228600">
        <a:buFont typeface="Arial"/>
        <a:buChar char="•"/>
        <a:defRPr sz="2400"/>
      </a:lvl2pPr>
    </p:bodyStyle>
    <p:otherStyle>
      <a:lvl1pPr>
        <a:defRPr sz="1800"/>
      </a:lvl1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Lumen Ledger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Seed round · 2026</a:t>
            </a:r>
          </a:p>
        </p:txBody>
      </p:sp>
    </p:spTree>
    <p:extLst>
      <p:ext uri="{BB962C8B-B14F-4D97-AF65-F5344CB8AC3E}">
        <p14:creationId xmlns:p14="http://schemas.microsoft.com/office/powerpoint/2010/main" val="10020272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Small lenders reconcile loan books by hand</a:t>
            </a:r>
          </a:p>
          <a:p>
            <a:r>
              <a:rPr lang="en-US"/>
              <a:t>Month-end close takes nine days on average</a:t>
            </a:r>
          </a:p>
          <a:p>
            <a:r>
              <a:rPr lang="en-US"/>
              <a:t>Errors surface only at audit</a:t>
            </a:r>
          </a:p>
        </p:txBody>
      </p:sp>
    </p:spTree>
    <p:extLst>
      <p:ext uri="{BB962C8B-B14F-4D97-AF65-F5344CB8AC3E}">
        <p14:creationId xmlns:p14="http://schemas.microsoft.com/office/powerpoint/2010/main" val="10020351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 ledger that reconciles itself every night</a:t>
            </a:r>
          </a:p>
          <a:p>
            <a:pPr lvl="1"/>
            <a:r>
              <a:rPr lang="en-US"/>
              <a:t>Connects to the core banking system in a day</a:t>
            </a:r>
          </a:p>
          <a:p>
            <a:pPr lvl="1"/>
            <a:r>
              <a:rPr lang="en-US"/>
              <a:t>Flags breaks before they reach the books</a:t>
            </a:r>
          </a:p>
        </p:txBody>
      </p:sp>
    </p:spTree>
    <p:extLst>
      <p:ext uri="{BB962C8B-B14F-4D97-AF65-F5344CB8AC3E}">
        <p14:creationId xmlns:p14="http://schemas.microsoft.com/office/powerpoint/2010/main" val="10020431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Market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4,800 community lenders in North America</a:t>
            </a:r>
          </a:p>
          <a:p>
            <a:r>
              <a:rPr lang="en-US"/>
              <a:t>$4.2B serviceable market</a:t>
            </a:r>
          </a:p>
        </p:txBody>
      </p:sp>
    </p:spTree>
    <p:extLst>
      <p:ext uri="{BB962C8B-B14F-4D97-AF65-F5344CB8AC3E}">
        <p14:creationId xmlns:p14="http://schemas.microsoft.com/office/powerpoint/2010/main" val="10020510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Product</a:t>
            </a:r>
          </a:p>
        </p:txBody>
      </p:sp>
      <p:pic>
        <p:nvPicPr>
          <p:cNvPr id="3" name="Picture 2" descr="The reconciliation dashboar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825625"/>
            <a:ext cx="7620000" cy="428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20589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Traction</a:t>
            </a:r>
          </a:p>
        </p:txBody>
      </p:sp>
      <p:graphicFrame>
        <p:nvGraphicFramePr>
          <p:cNvPr id="3" name="Chart 2"/>
          <p:cNvGraphicFramePr/>
          <p:nvPr/>
        </p:nvGraphicFramePr>
        <p:xfrm>
          <a:off x="838200" y="1825625"/>
          <a:ext cx="60960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0" y="1825625"/>
            <a:ext cx="4038600" cy="120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/>
              <a:t>$1.2M ARR</a:t>
            </a:r>
          </a:p>
          <a:p>
            <a:r>
              <a:rPr lang="en-US"/>
              <a:t>Net revenue retention 128%</a:t>
            </a:r>
          </a:p>
        </p:txBody>
      </p:sp>
    </p:spTree>
    <p:extLst>
      <p:ext uri="{BB962C8B-B14F-4D97-AF65-F5344CB8AC3E}">
        <p14:creationId xmlns:p14="http://schemas.microsoft.com/office/powerpoint/2010/main" val="10020668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Rowan Ellis, CEO</a:t>
            </a:r>
          </a:p>
          <a:p>
            <a:pPr lvl="1"/>
            <a:r>
              <a:rPr lang="en-US"/>
              <a:t>Ran lending ops at a regional bank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/>
          </p:nvPr>
        </p:nvSpPr>
        <p:spPr/>
        <p:txBody>
          <a:bodyPr/>
          <a:lstStyle/>
          <a:p>
            <a:r>
              <a:rPr lang="en-US"/>
              <a:t>Imani Okafor, CTO</a:t>
            </a:r>
          </a:p>
          <a:p>
            <a:pPr lvl="1"/>
            <a:r>
              <a:rPr lang="en-US"/>
              <a:t>Built ledgers at two payment firms</a:t>
            </a:r>
          </a:p>
        </p:txBody>
      </p:sp>
    </p:spTree>
    <p:extLst>
      <p:ext uri="{BB962C8B-B14F-4D97-AF65-F5344CB8AC3E}">
        <p14:creationId xmlns:p14="http://schemas.microsoft.com/office/powerpoint/2010/main" val="10020747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ask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Raising $2.5M seed</a:t>
            </a:r>
          </a:p>
          <a:p>
            <a:r>
              <a:rPr lang="en-US"/>
              <a:t>18 months of runway</a:t>
            </a:r>
          </a:p>
          <a:p>
            <a:r>
              <a:rPr lang="en-US"/>
              <a:t>Hire four engineers</a:t>
            </a:r>
          </a:p>
        </p:txBody>
      </p:sp>
    </p:spTree>
    <p:extLst>
      <p:ext uri="{BB962C8B-B14F-4D97-AF65-F5344CB8AC3E}">
        <p14:creationId xmlns:p14="http://schemas.microsoft.com/office/powerpoint/2010/main" val="1002082697"/>
      </p:ext>
    </p:extLst>
  </p:cSld>
  <p:clrMapOvr>
    <a:masterClrMapping/>
  </p:clrMapOvr>
</p:sld>
</file>

<file path=ppt/theme/theme1.xml><?xml version="1.0" encoding="utf-8"?>
<a:theme xmlns:a="http://schemas.openxmlformats.org/drawingml/2006/main" name="Lineage">
  <a:themeElements>
    <a:clrScheme name="Lineage">
      <a:dk1>
        <a:sysClr val="windowText" lastClr="000000"/>
      </a:dk1>
      <a:lt1>
        <a:sysClr val="window" lastClr="FFFFFF"/>
      </a:lt1>
      <a:dk2>
        <a:srgbClr val="18212B"/>
      </a:dk2>
      <a:lt2>
        <a:srgbClr val="F4F5F7"/>
      </a:lt2>
      <a:accent1>
        <a:srgbClr val="0E7C7B"/>
      </a:accent1>
      <a:accent2>
        <a:srgbClr val="4F46B5"/>
      </a:accent2>
      <a:accent3>
        <a:srgbClr val="5B6573"/>
      </a:accent3>
      <a:accent4>
        <a:srgbClr val="9A3412"/>
      </a:accent4>
      <a:accent5>
        <a:srgbClr val="6B3D06"/>
      </a:accent5>
      <a:accent6>
        <a:srgbClr val="2E2880"/>
      </a:accent6>
      <a:hlink>
        <a:srgbClr val="0B4F4E"/>
      </a:hlink>
      <a:folHlink>
        <a:srgbClr val="2E2880"/>
      </a:folHlink>
    </a:clrScheme>
    <a:fontScheme name="Lineag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Lineag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Lineage">
  <a:themeElements>
    <a:clrScheme name="Lineage">
      <a:dk1>
        <a:sysClr val="windowText" lastClr="000000"/>
      </a:dk1>
      <a:lt1>
        <a:sysClr val="window" lastClr="FFFFFF"/>
      </a:lt1>
      <a:dk2>
        <a:srgbClr val="18212B"/>
      </a:dk2>
      <a:lt2>
        <a:srgbClr val="F4F5F7"/>
      </a:lt2>
      <a:accent1>
        <a:srgbClr val="0E7C7B"/>
      </a:accent1>
      <a:accent2>
        <a:srgbClr val="4F46B5"/>
      </a:accent2>
      <a:accent3>
        <a:srgbClr val="5B6573"/>
      </a:accent3>
      <a:accent4>
        <a:srgbClr val="9A3412"/>
      </a:accent4>
      <a:accent5>
        <a:srgbClr val="6B3D06"/>
      </a:accent5>
      <a:accent6>
        <a:srgbClr val="2E2880"/>
      </a:accent6>
      <a:hlink>
        <a:srgbClr val="0B4F4E"/>
      </a:hlink>
      <a:folHlink>
        <a:srgbClr val="2E2880"/>
      </a:folHlink>
    </a:clrScheme>
    <a:fontScheme name="Lineag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Lineag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a9ee03e0-b78c-4998-8bf4-79b266b85105}" enabled="1" method="Standard" siteId="{723a5a87-f39a-4a22-9247-3fc240c01396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131</Words>
  <Application>Microsoft Office PowerPoint</Application>
  <PresentationFormat>Widescreen</PresentationFormat>
  <Paragraphs>29</Paragraphs>
  <Slides>8</Slides>
  <Notes>3</Notes>
  <HiddenSlides>1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0" baseType="lpstr">
      <vt:lpstr>Arial</vt:lpstr>
      <vt:lpstr>Lineage</vt:lpstr>
      <vt:lpstr>Lumen Ledger</vt:lpstr>
      <vt:lpstr>Problem</vt:lpstr>
      <vt:lpstr>Solution</vt:lpstr>
      <vt:lpstr>Market</vt:lpstr>
      <vt:lpstr>Product</vt:lpstr>
      <vt:lpstr>Traction</vt:lpstr>
      <vt:lpstr>Team</vt:lpstr>
      <vt:lpstr>The ask</vt:lpstr>
    </vt:vector>
  </TitlesOfParts>
  <Company>Lumen Ledger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Lumen Ledger pitch deck</dc:title>
  <dc:creator>Lineage fixture generator</dc:creator>
  <cp:lastModifiedBy>Hrishikesh Vedantam</cp:lastModifiedBy>
  <cp:revision>1</cp:revision>
  <dcterms:created xsi:type="dcterms:W3CDTF">2026-01-01T00:00:00Z</dcterms:created>
  <dcterms:modified xsi:type="dcterms:W3CDTF">2026-10-17T16:47:47Z</dcterms:modified>
</cp:coreProperties>
</file>