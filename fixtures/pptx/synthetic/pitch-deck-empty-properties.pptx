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560</c:v>
                </c:pt>
                <c:pt idx="2">
                  <c:v>840</c:v>
                </c:pt>
                <c:pt idx="3">
                  <c:v>1200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plotVisOnly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them for the time. Two minutes on the problem.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Bottom-up: lenders times average contract.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 sz="4400"/>
      </a:lvl1pPr>
    </p:titleStyle>
    <p:bodyStyle>
      <a:lvl1pPr marL="228600" indent="-228600">
        <a:buFont typeface="Arial"/>
        <a:buChar char="•"/>
        <a:defRPr sz="2800"/>
      </a:lvl1pPr>
      <a:lvl2pPr marL="685800" indent="-228600">
        <a:buFont typeface="Arial"/>
        <a:buChar char="•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Lumen 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round · 2026</a:t>
            </a:r>
          </a:p>
        </p:txBody>
      </p:sp>
    </p:spTree>
    <p:extLst>
      <p:ext uri="{BB962C8B-B14F-4D97-AF65-F5344CB8AC3E}">
        <p14:creationId xmlns:p14="http://schemas.microsoft.com/office/powerpoint/2010/main" val="100202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Small lenders reconcile loan books by hand</a:t>
            </a:r>
          </a:p>
          <a:p>
            <a:r>
              <a:rPr lang="en-US"/>
              <a:t>Month-end close takes nine days on average</a:t>
            </a:r>
          </a:p>
          <a:p>
            <a:r>
              <a:rPr lang="en-US"/>
              <a:t>Errors surface only at audit</a:t>
            </a:r>
          </a:p>
        </p:txBody>
      </p:sp>
    </p:spTree>
    <p:extLst>
      <p:ext uri="{BB962C8B-B14F-4D97-AF65-F5344CB8AC3E}">
        <p14:creationId xmlns:p14="http://schemas.microsoft.com/office/powerpoint/2010/main" val="100203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ledger that reconciles itself every night</a:t>
            </a:r>
          </a:p>
          <a:p>
            <a:pPr lvl="1"/>
            <a:r>
              <a:rPr lang="en-US"/>
              <a:t>Connects to the core banking system in a day</a:t>
            </a:r>
          </a:p>
          <a:p>
            <a:pPr lvl="1"/>
            <a:r>
              <a:rPr lang="en-US"/>
              <a:t>Flags breaks before they reach the books</a:t>
            </a:r>
          </a:p>
        </p:txBody>
      </p:sp>
    </p:spTree>
    <p:extLst>
      <p:ext uri="{BB962C8B-B14F-4D97-AF65-F5344CB8AC3E}">
        <p14:creationId xmlns:p14="http://schemas.microsoft.com/office/powerpoint/2010/main" val="10020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4,800 community lenders in North America</a:t>
            </a:r>
          </a:p>
          <a:p>
            <a:r>
              <a:rPr lang="en-US"/>
              <a:t>$4.2B serviceable market</a:t>
            </a:r>
          </a:p>
        </p:txBody>
      </p:sp>
    </p:spTree>
    <p:extLst>
      <p:ext uri="{BB962C8B-B14F-4D97-AF65-F5344CB8AC3E}">
        <p14:creationId xmlns:p14="http://schemas.microsoft.com/office/powerpoint/2010/main" val="100205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</a:t>
            </a:r>
          </a:p>
        </p:txBody>
      </p:sp>
      <p:pic>
        <p:nvPicPr>
          <p:cNvPr id="3" name="Picture 2" descr="The reconciliatio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562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5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$1.2M ARR</a:t>
            </a:r>
          </a:p>
          <a:p>
            <a:r>
              <a:rPr lang="en-US"/>
              <a:t>Net revenue retention 128%</a:t>
            </a:r>
          </a:p>
        </p:txBody>
      </p:sp>
    </p:spTree>
    <p:extLst>
      <p:ext uri="{BB962C8B-B14F-4D97-AF65-F5344CB8AC3E}">
        <p14:creationId xmlns:p14="http://schemas.microsoft.com/office/powerpoint/2010/main" val="100206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Rowan Ellis, CEO</a:t>
            </a:r>
          </a:p>
          <a:p>
            <a:pPr lvl="1"/>
            <a:r>
              <a:rPr lang="en-US"/>
              <a:t>Ran lending ops at a regional bank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/>
              <a:t>Imani Okafor, CTO</a:t>
            </a:r>
          </a:p>
          <a:p>
            <a:pPr lvl="1"/>
            <a:r>
              <a:rPr lang="en-US"/>
              <a:t>Built ledgers at two payment firms</a:t>
            </a:r>
          </a:p>
        </p:txBody>
      </p:sp>
    </p:spTree>
    <p:extLst>
      <p:ext uri="{BB962C8B-B14F-4D97-AF65-F5344CB8AC3E}">
        <p14:creationId xmlns:p14="http://schemas.microsoft.com/office/powerpoint/2010/main" val="100207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Raising $2.5M seed</a:t>
            </a:r>
          </a:p>
          <a:p>
            <a:r>
              <a:rPr lang="en-US"/>
              <a:t>18 months of runway</a:t>
            </a:r>
          </a:p>
          <a:p>
            <a:r>
              <a:rPr lang="en-US"/>
              <a:t>Hire four engineers</a:t>
            </a:r>
          </a:p>
        </p:txBody>
      </p:sp>
    </p:spTree>
    <p:extLst>
      <p:ext uri="{BB962C8B-B14F-4D97-AF65-F5344CB8AC3E}">
        <p14:creationId xmlns:p14="http://schemas.microsoft.com/office/powerpoint/2010/main" val="1002082697"/>
      </p:ext>
    </p:extLst>
  </p:cSld>
  <p:clrMapOvr>
    <a:masterClrMapping/>
  </p:clrMapOvr>
</p:sld>
</file>

<file path=ppt/theme/theme1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Lineage fixture generator</Application>
  <PresentationFormat>Widescreen</PresentationFormat>
  <Slides>8</Slides>
  <Company>Lumen Ledger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Ledger pitch deck</dc:title>
  <dc:creator>Lineage fixture generator</dc:creator>
  <cp:lastModifiedBy>Lineage fixture generator</cp:lastModifiedBy>
  <dcterms:created xsi:type="dcterms:W3CDTF">2026-01-01T00:00:00Z</dcterms:created>
  <dcterms:modified xsi:type="dcterms:W3CDTF">2026-01-01T00:00:00Z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