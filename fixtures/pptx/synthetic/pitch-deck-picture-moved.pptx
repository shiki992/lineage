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lvl1pPr>
      <a:defRPr sz="1800"/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 2026</c:v>
                </c:pt>
                <c:pt idx="1">
                  <c:v>Q2 2026</c:v>
                </c:pt>
                <c:pt idx="2">
                  <c:v>Q3 2026</c:v>
                </c:pt>
                <c:pt idx="3">
                  <c:v>Q4 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310</c:v>
                </c:pt>
                <c:pt idx="1">
                  <c:v>560</c:v>
                </c:pt>
                <c:pt idx="2">
                  <c:v>840</c:v>
                </c:pt>
                <c:pt idx="3">
                  <c:v>1200</c:v>
                </c:pt>
              </c:numCache>
            </c:numRef>
          </c:val>
        </c:ser>
        <c:gapWidth val="150"/>
        <c:axId val="111111111"/>
        <c:axId val="222222222"/>
      </c:barChart>
      <c:catAx>
        <c:axId val="111111111"/>
        <c:scaling>
          <c:orientation val="minMax"/>
        </c:scaling>
        <c:delete val="0"/>
        <c:axPos val="b"/>
        <c:crossAx val="222222222"/>
      </c:catAx>
      <c:valAx>
        <c:axId val="222222222"/>
        <c:scaling>
          <c:orientation val="minMax"/>
        </c:scaling>
        <c:delete val="0"/>
        <c:axPos val="l"/>
        <c:crossAx val="111111111"/>
      </c:valAx>
    </c:plotArea>
    <c:plotVisOnly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Thank them for the time. Two minutes on the problem.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Bottom-up: lenders times average contract.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Numbers as of 30 September.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 sz="4400"/>
      </a:lvl1pPr>
    </p:titleStyle>
    <p:bodyStyle>
      <a:lvl1pPr marL="228600" indent="-228600">
        <a:buFont typeface="Arial"/>
        <a:buChar char="•"/>
        <a:defRPr sz="2800"/>
      </a:lvl1pPr>
      <a:lvl2pPr marL="685800" indent="-228600">
        <a:buFont typeface="Arial"/>
        <a:buChar char="•"/>
        <a:defRPr sz="24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Lumen Ledger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round · 2026</a:t>
            </a:r>
          </a:p>
        </p:txBody>
      </p:sp>
    </p:spTree>
    <p:extLst>
      <p:ext uri="{BB962C8B-B14F-4D97-AF65-F5344CB8AC3E}">
        <p14:creationId xmlns:p14="http://schemas.microsoft.com/office/powerpoint/2010/main" val="1002027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Small lenders reconcile loan books by hand</a:t>
            </a:r>
          </a:p>
          <a:p>
            <a:r>
              <a:rPr lang="en-US"/>
              <a:t>Month-end close takes nine days on average</a:t>
            </a:r>
          </a:p>
          <a:p>
            <a:r>
              <a:rPr lang="en-US"/>
              <a:t>Errors surface only at audit</a:t>
            </a:r>
          </a:p>
        </p:txBody>
      </p:sp>
    </p:spTree>
    <p:extLst>
      <p:ext uri="{BB962C8B-B14F-4D97-AF65-F5344CB8AC3E}">
        <p14:creationId xmlns:p14="http://schemas.microsoft.com/office/powerpoint/2010/main" val="1002035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ledger that reconciles itself every night</a:t>
            </a:r>
          </a:p>
          <a:p>
            <a:pPr lvl="1"/>
            <a:r>
              <a:rPr lang="en-US"/>
              <a:t>Connects to the core banking system in a day</a:t>
            </a:r>
          </a:p>
          <a:p>
            <a:pPr lvl="1"/>
            <a:r>
              <a:rPr lang="en-US"/>
              <a:t>Flags breaks before they reach the books</a:t>
            </a:r>
          </a:p>
        </p:txBody>
      </p:sp>
    </p:spTree>
    <p:extLst>
      <p:ext uri="{BB962C8B-B14F-4D97-AF65-F5344CB8AC3E}">
        <p14:creationId xmlns:p14="http://schemas.microsoft.com/office/powerpoint/2010/main" val="1002043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4,800 community lenders in North America</a:t>
            </a:r>
          </a:p>
          <a:p>
            <a:r>
              <a:rPr lang="en-US"/>
              <a:t>$4.2B serviceable market</a:t>
            </a:r>
          </a:p>
        </p:txBody>
      </p:sp>
    </p:spTree>
    <p:extLst>
      <p:ext uri="{BB962C8B-B14F-4D97-AF65-F5344CB8AC3E}">
        <p14:creationId xmlns:p14="http://schemas.microsoft.com/office/powerpoint/2010/main" val="1002051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</a:t>
            </a:r>
          </a:p>
        </p:txBody>
      </p:sp>
      <p:pic>
        <p:nvPicPr>
          <p:cNvPr id="3" name="Picture 2" descr="The reconciliation 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825625"/>
            <a:ext cx="762000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058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Traction</a:t>
            </a:r>
          </a:p>
        </p:txBody>
      </p:sp>
      <p:graphicFrame>
        <p:nvGraphicFramePr>
          <p:cNvPr id="3" name="Chart 2"/>
          <p:cNvGraphicFramePr/>
          <p:nvPr/>
        </p:nvGraphicFramePr>
        <p:xfrm>
          <a:off x="838200" y="1825625"/>
          <a:ext cx="6096000" cy="435133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825625"/>
            <a:ext cx="4038600" cy="1200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$1.2M ARR</a:t>
            </a:r>
          </a:p>
          <a:p>
            <a:r>
              <a:rPr lang="en-US"/>
              <a:t>Net revenue retention 128%</a:t>
            </a:r>
          </a:p>
        </p:txBody>
      </p:sp>
    </p:spTree>
    <p:extLst>
      <p:ext uri="{BB962C8B-B14F-4D97-AF65-F5344CB8AC3E}">
        <p14:creationId xmlns:p14="http://schemas.microsoft.com/office/powerpoint/2010/main" val="1002066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Rowan Ellis, CEO</a:t>
            </a:r>
          </a:p>
          <a:p>
            <a:pPr lvl="1"/>
            <a:r>
              <a:rPr lang="en-US"/>
              <a:t>Ran lending ops at a regional bank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/>
        <p:txBody>
          <a:bodyPr/>
          <a:lstStyle/>
          <a:p>
            <a:r>
              <a:rPr lang="en-US"/>
              <a:t>Imani Okafor, CTO</a:t>
            </a:r>
          </a:p>
          <a:p>
            <a:pPr lvl="1"/>
            <a:r>
              <a:rPr lang="en-US"/>
              <a:t>Built ledgers at two payment firms</a:t>
            </a:r>
          </a:p>
        </p:txBody>
      </p:sp>
    </p:spTree>
    <p:extLst>
      <p:ext uri="{BB962C8B-B14F-4D97-AF65-F5344CB8AC3E}">
        <p14:creationId xmlns:p14="http://schemas.microsoft.com/office/powerpoint/2010/main" val="1002074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Raising $2.5M seed</a:t>
            </a:r>
          </a:p>
          <a:p>
            <a:r>
              <a:rPr lang="en-US"/>
              <a:t>18 months of runway</a:t>
            </a:r>
          </a:p>
          <a:p>
            <a:r>
              <a:rPr lang="en-US"/>
              <a:t>Hire four engineers</a:t>
            </a:r>
          </a:p>
        </p:txBody>
      </p:sp>
    </p:spTree>
    <p:extLst>
      <p:ext uri="{BB962C8B-B14F-4D97-AF65-F5344CB8AC3E}">
        <p14:creationId xmlns:p14="http://schemas.microsoft.com/office/powerpoint/2010/main" val="1002082697"/>
      </p:ext>
    </p:extLst>
  </p:cSld>
  <p:clrMapOvr>
    <a:masterClrMapping/>
  </p:clrMapOvr>
</p:sld>
</file>

<file path=ppt/theme/theme1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neage">
  <a:themeElements>
    <a:clrScheme name="Lineage">
      <a:dk1>
        <a:sysClr val="windowText" lastClr="000000"/>
      </a:dk1>
      <a:lt1>
        <a:sysClr val="window" lastClr="FFFFFF"/>
      </a:lt1>
      <a:dk2>
        <a:srgbClr val="18212B"/>
      </a:dk2>
      <a:lt2>
        <a:srgbClr val="F4F5F7"/>
      </a:lt2>
      <a:accent1>
        <a:srgbClr val="0E7C7B"/>
      </a:accent1>
      <a:accent2>
        <a:srgbClr val="4F46B5"/>
      </a:accent2>
      <a:accent3>
        <a:srgbClr val="5B6573"/>
      </a:accent3>
      <a:accent4>
        <a:srgbClr val="9A3412"/>
      </a:accent4>
      <a:accent5>
        <a:srgbClr val="6B3D06"/>
      </a:accent5>
      <a:accent6>
        <a:srgbClr val="2E2880"/>
      </a:accent6>
      <a:hlink>
        <a:srgbClr val="0B4F4E"/>
      </a:hlink>
      <a:folHlink>
        <a:srgbClr val="2E2880"/>
      </a:folHlink>
    </a:clrScheme>
    <a:fontScheme name="Lineag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ineag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Lineage fixture generator</Application>
  <PresentationFormat>Widescreen</PresentationFormat>
  <Slides>8</Slides>
  <Company>Lumen Ledger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Lumen Ledger pitch deck</dc:title>
  <dc:creator>Lineage fixture generator</dc:creator>
  <cp:lastModifiedBy>Lineage fixture generator</cp:lastModifiedBy>
  <dcterms:created xsi:type="dcterms:W3CDTF">2026-01-01T00:00:00Z</dcterms:created>
  <dcterms:modified xsi:type="dcterms:W3CDTF">2026-01-01T00:00:00Z</dcterms:modified>
</cp:coreProperties>
</file>